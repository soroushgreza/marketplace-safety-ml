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8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82A44"/>
                </a:solidFill>
                <a:latin typeface="Aptos Display"/>
              </a:defRPr>
            </a:pPr>
            <a:r>
              <a:t>Marketplace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25880"/>
            <a:ext cx="896112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5F6C7D"/>
                </a:solidFill>
                <a:latin typeface="Aptos"/>
              </a:defRPr>
            </a:pPr>
            <a:r>
              <a:t>Prioritera misstänkta annonser och meddelanden med Machine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5120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448056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82A44"/>
                </a:solidFill>
                <a:latin typeface="Aptos"/>
              </a:defRPr>
            </a:pPr>
            <a:r>
              <a:t>Problemet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70632"/>
            <a:ext cx="4572000" cy="86868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E232A"/>
                </a:solidFill>
                <a:latin typeface="Aptos"/>
              </a:defRPr>
            </a:pPr>
            <a:r>
              <a:t>Många händelser varje vecka</a:t>
            </a:r>
          </a:p>
          <a:p>
            <a:pPr>
              <a:spcAft>
                <a:spcPts val="400"/>
              </a:spcAft>
              <a:defRPr sz="1500">
                <a:solidFill>
                  <a:srgbClr val="1E232A"/>
                </a:solidFill>
                <a:latin typeface="Aptos"/>
              </a:defRPr>
            </a:pPr>
            <a:r>
              <a:t>En mindre andel är bluff, spam eller misstänkt beteende</a:t>
            </a:r>
          </a:p>
          <a:p>
            <a:pPr>
              <a:spcAft>
                <a:spcPts val="400"/>
              </a:spcAft>
              <a:defRPr sz="1500">
                <a:solidFill>
                  <a:srgbClr val="1E232A"/>
                </a:solidFill>
                <a:latin typeface="Aptos"/>
              </a:defRPr>
            </a:pPr>
            <a:r>
              <a:t>Trust &amp; Safety hinner inte granska allt manuellt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148840"/>
            <a:ext cx="51663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45720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82A44"/>
                </a:solidFill>
                <a:latin typeface="Aptos"/>
              </a:defRPr>
            </a:pPr>
            <a:r>
              <a:t>Kravkort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770632"/>
            <a:ext cx="4572000" cy="86868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E232A"/>
                </a:solidFill>
                <a:latin typeface="Aptos"/>
              </a:defRPr>
            </a:pPr>
            <a:r>
              <a:t>Stakeholder: Trust &amp; Safety-teamet</a:t>
            </a:r>
          </a:p>
          <a:p>
            <a:pPr>
              <a:spcAft>
                <a:spcPts val="400"/>
              </a:spcAft>
              <a:defRPr sz="1500">
                <a:solidFill>
                  <a:srgbClr val="1E232A"/>
                </a:solidFill>
                <a:latin typeface="Aptos"/>
              </a:defRPr>
            </a:pPr>
            <a:r>
              <a:t>Prioritet: minimera false negatives</a:t>
            </a:r>
          </a:p>
          <a:p>
            <a:pPr>
              <a:spcAft>
                <a:spcPts val="400"/>
              </a:spcAft>
              <a:defRPr sz="1500">
                <a:solidFill>
                  <a:srgbClr val="1E232A"/>
                </a:solidFill>
                <a:latin typeface="Aptos"/>
              </a:defRPr>
            </a:pPr>
            <a:r>
              <a:t>Modellen ska prioritera manuell granskning – inte automatiskt straffa användare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4800600"/>
            <a:ext cx="2286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502920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A6099"/>
                </a:solidFill>
                <a:latin typeface="Aptos Display"/>
              </a:defRPr>
            </a:pPr>
            <a:r>
              <a:t>12 000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513832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F6C7D"/>
                </a:solidFill>
                <a:latin typeface="Aptos"/>
              </a:defRPr>
            </a:pPr>
            <a:r>
              <a:t>historiska händelser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11880" y="4800600"/>
            <a:ext cx="2286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49040" y="502920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DB8039"/>
                </a:solidFill>
                <a:latin typeface="Aptos Display"/>
              </a:defRPr>
            </a:pPr>
            <a:r>
              <a:t>10,2%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5513832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F6C7D"/>
                </a:solidFill>
                <a:latin typeface="Aptos"/>
              </a:defRPr>
            </a:pPr>
            <a:r>
              <a:t>misstänkta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800600"/>
            <a:ext cx="2286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502920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8918E"/>
                </a:solidFill>
                <a:latin typeface="Aptos Display"/>
              </a:defRPr>
            </a:pPr>
            <a:r>
              <a:t>2 000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513832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F6C7D"/>
                </a:solidFill>
                <a:latin typeface="Aptos"/>
              </a:defRPr>
            </a:pPr>
            <a:r>
              <a:t>nya händelser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4800600"/>
            <a:ext cx="2286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52560" y="502920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69660"/>
                </a:solidFill>
                <a:latin typeface="Aptos Display"/>
              </a:defRPr>
            </a:pPr>
            <a:r>
              <a:t>0.20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5513832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F6C7D"/>
                </a:solidFill>
                <a:latin typeface="Aptos"/>
              </a:defRPr>
            </a:pPr>
            <a:r>
              <a:t>vald threshold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A0AC"/>
                </a:solidFill>
                <a:latin typeface="Aptos"/>
              </a:defRPr>
            </a:pPr>
            <a:r>
              <a:t>Marketplace Safety 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92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2. Data-insikter och risker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18288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D2DCE8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3474720" cy="123444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307592"/>
            <a:ext cx="30175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82A44"/>
                </a:solidFill>
                <a:latin typeface="Aptos"/>
              </a:defRPr>
            </a:pPr>
            <a:r>
              <a:t>Target-fördelning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73352"/>
            <a:ext cx="297180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E232A"/>
                </a:solidFill>
                <a:latin typeface="Aptos"/>
              </a:defRPr>
            </a:pPr>
            <a:r>
              <a:t>Ungefär 10% av händelserna är misstänkta. Datan är därför obalanserad.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143000"/>
            <a:ext cx="3474720" cy="123444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307592"/>
            <a:ext cx="30175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82A44"/>
                </a:solidFill>
                <a:latin typeface="Aptos"/>
              </a:defRPr>
            </a:pPr>
            <a:r>
              <a:t>Missing values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673352"/>
            <a:ext cx="297180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E232A"/>
                </a:solidFill>
                <a:latin typeface="Aptos"/>
              </a:defRPr>
            </a:pPr>
            <a:r>
              <a:t>Saknas i bland annat region, price och time_to_first_response_min.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143000"/>
            <a:ext cx="3474720" cy="123444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1307592"/>
            <a:ext cx="30175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82A44"/>
                </a:solidFill>
                <a:latin typeface="Aptos"/>
              </a:defRPr>
            </a:pPr>
            <a:r>
              <a:t>Olika risknivåer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673352"/>
            <a:ext cx="297180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E232A"/>
                </a:solidFill>
                <a:latin typeface="Aptos"/>
              </a:defRPr>
            </a:pPr>
            <a:r>
              <a:t>Event type och category verkar kunna ge användbara signaler.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971800"/>
            <a:ext cx="502920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82A44"/>
                </a:solidFill>
                <a:latin typeface="Aptos"/>
              </a:defRPr>
            </a:pPr>
            <a:r>
              <a:t>Varför accuracy inte räcker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456432"/>
            <a:ext cx="5074920" cy="9144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E232A"/>
                </a:solidFill>
                <a:latin typeface="Aptos"/>
              </a:defRPr>
            </a:pPr>
            <a:r>
              <a:t>Eftersom majoriteten inte är misstänkt kan en modell få hög accuracy genom att nästan alltid gissa “ej misstänkt”. Det hjälper inte Trust &amp; Safety-teamet om misstänkta händelser missas.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971800"/>
            <a:ext cx="438912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82A44"/>
                </a:solidFill>
                <a:latin typeface="Aptos"/>
              </a:defRPr>
            </a:pPr>
            <a:r>
              <a:t>Därför följer vi även: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383280"/>
            <a:ext cx="4114800" cy="128016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1E232A"/>
                </a:solidFill>
                <a:latin typeface="Aptos"/>
              </a:defRPr>
            </a:pPr>
            <a:r>
              <a:t>Recall</a:t>
            </a:r>
          </a:p>
          <a:p>
            <a:pPr>
              <a:spcAft>
                <a:spcPts val="400"/>
              </a:spcAft>
              <a:defRPr sz="1800">
                <a:solidFill>
                  <a:srgbClr val="1E232A"/>
                </a:solidFill>
                <a:latin typeface="Aptos"/>
              </a:defRPr>
            </a:pPr>
            <a:r>
              <a:t>Precision</a:t>
            </a:r>
          </a:p>
          <a:p>
            <a:pPr>
              <a:spcAft>
                <a:spcPts val="400"/>
              </a:spcAft>
              <a:defRPr sz="1800">
                <a:solidFill>
                  <a:srgbClr val="1E232A"/>
                </a:solidFill>
                <a:latin typeface="Aptos"/>
              </a:defRPr>
            </a:pPr>
            <a:r>
              <a:t>F1</a:t>
            </a:r>
          </a:p>
          <a:p>
            <a:pPr>
              <a:spcAft>
                <a:spcPts val="400"/>
              </a:spcAft>
              <a:defRPr sz="1800">
                <a:solidFill>
                  <a:srgbClr val="1E232A"/>
                </a:solidFill>
                <a:latin typeface="Aptos"/>
              </a:defRPr>
            </a:pPr>
            <a:r>
              <a:t>ROC-AUC</a:t>
            </a:r>
          </a:p>
          <a:p>
            <a:pPr>
              <a:spcAft>
                <a:spcPts val="400"/>
              </a:spcAft>
              <a:defRPr sz="1800">
                <a:solidFill>
                  <a:srgbClr val="1E232A"/>
                </a:solidFill>
                <a:latin typeface="Aptos"/>
              </a:defRPr>
            </a:pPr>
            <a:r>
              <a:t>PR-AUC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A0AC"/>
                </a:solidFill>
                <a:latin typeface="Aptos"/>
              </a:defRPr>
            </a:pPr>
            <a:r>
              <a:t>Marketplace Safety 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92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3. Pipeline och utvärdering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18288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D2DCE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3108960" cy="44805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256032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82A44"/>
                </a:solidFill>
                <a:latin typeface="Aptos"/>
              </a:defRPr>
            </a:pPr>
            <a:r>
              <a:t>Train/test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2514600" cy="155448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E232A"/>
                </a:solidFill>
                <a:latin typeface="Aptos"/>
              </a:defRPr>
            </a:pPr>
            <a:r>
              <a:t>80% train</a:t>
            </a:r>
          </a:p>
          <a:p>
            <a:pPr>
              <a:spcAft>
                <a:spcPts val="400"/>
              </a:spcAft>
              <a:defRPr sz="1500">
                <a:solidFill>
                  <a:srgbClr val="1E232A"/>
                </a:solidFill>
                <a:latin typeface="Aptos"/>
              </a:defRPr>
            </a:pPr>
            <a:r>
              <a:t>20% test</a:t>
            </a:r>
          </a:p>
          <a:p>
            <a:pPr>
              <a:spcAft>
                <a:spcPts val="400"/>
              </a:spcAft>
              <a:defRPr sz="1500">
                <a:solidFill>
                  <a:srgbClr val="1E232A"/>
                </a:solidFill>
                <a:latin typeface="Aptos"/>
              </a:defRPr>
            </a:pPr>
            <a:r>
              <a:t>Stratifierad split</a:t>
            </a:r>
          </a:p>
          <a:p>
            <a:pPr>
              <a:spcAft>
                <a:spcPts val="400"/>
              </a:spcAft>
              <a:defRPr sz="1500">
                <a:solidFill>
                  <a:srgbClr val="1E232A"/>
                </a:solidFill>
                <a:latin typeface="Aptos"/>
              </a:defRPr>
            </a:pPr>
            <a:r>
              <a:t>Samma target-fördelning i train och 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143000"/>
            <a:ext cx="3108960" cy="44805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417320"/>
            <a:ext cx="256032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82A44"/>
                </a:solidFill>
                <a:latin typeface="Aptos"/>
              </a:defRPr>
            </a:pPr>
            <a:r>
              <a:t>Numeriska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874519"/>
            <a:ext cx="2514600" cy="128016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E232A"/>
                </a:solidFill>
                <a:latin typeface="Aptos"/>
              </a:defRPr>
            </a:pPr>
            <a:r>
              <a:t>Median-imputation</a:t>
            </a:r>
          </a:p>
          <a:p>
            <a:pPr>
              <a:spcAft>
                <a:spcPts val="400"/>
              </a:spcAft>
              <a:defRPr sz="1500">
                <a:solidFill>
                  <a:srgbClr val="1E232A"/>
                </a:solidFill>
                <a:latin typeface="Aptos"/>
              </a:defRPr>
            </a:pPr>
            <a:r>
              <a:t>Standardisering</a:t>
            </a:r>
          </a:p>
          <a:p>
            <a:pPr>
              <a:spcAft>
                <a:spcPts val="400"/>
              </a:spcAft>
              <a:defRPr sz="1500">
                <a:solidFill>
                  <a:srgbClr val="1E232A"/>
                </a:solidFill>
                <a:latin typeface="Aptos"/>
              </a:defRPr>
            </a:pPr>
            <a:r>
              <a:t>Används inne i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429000"/>
            <a:ext cx="256032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82A44"/>
                </a:solidFill>
                <a:latin typeface="Aptos"/>
              </a:defRPr>
            </a:pPr>
            <a:r>
              <a:t>Kategoriska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840480"/>
            <a:ext cx="2514600" cy="114300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E232A"/>
                </a:solidFill>
                <a:latin typeface="Aptos"/>
              </a:defRPr>
            </a:pPr>
            <a:r>
              <a:t>Missing → "missing"</a:t>
            </a:r>
          </a:p>
          <a:p>
            <a:pPr>
              <a:spcAft>
                <a:spcPts val="400"/>
              </a:spcAft>
              <a:defRPr sz="1500">
                <a:solidFill>
                  <a:srgbClr val="1E232A"/>
                </a:solidFill>
                <a:latin typeface="Aptos"/>
              </a:defRPr>
            </a:pPr>
            <a:r>
              <a:t>One-hot encoding</a:t>
            </a:r>
          </a:p>
          <a:p>
            <a:pPr>
              <a:spcAft>
                <a:spcPts val="400"/>
              </a:spcAft>
              <a:defRPr sz="1500">
                <a:solidFill>
                  <a:srgbClr val="1E232A"/>
                </a:solidFill>
                <a:latin typeface="Aptos"/>
              </a:defRPr>
            </a:pPr>
            <a:r>
              <a:t>handle_unknown="ignore"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143000"/>
            <a:ext cx="3383280" cy="44805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417320"/>
            <a:ext cx="292608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82A44"/>
                </a:solidFill>
                <a:latin typeface="Aptos"/>
              </a:defRPr>
            </a:pPr>
            <a:r>
              <a:t>Leakage-säkert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874519"/>
            <a:ext cx="2743200" cy="9601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E232A"/>
                </a:solidFill>
                <a:latin typeface="Aptos"/>
              </a:defRPr>
            </a:pPr>
            <a:r>
              <a:t>Preprocessing lärs bara på träningsdatan och appliceras sedan på test och new_data.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971800"/>
            <a:ext cx="2743200" cy="640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A6099"/>
                </a:solidFill>
                <a:latin typeface="Aptos"/>
              </a:defRPr>
            </a:pPr>
            <a:r>
              <a:t>Det gör att testdatan inte påverkar träningen.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794760"/>
            <a:ext cx="274320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E232A"/>
                </a:solidFill>
                <a:latin typeface="Aptos"/>
              </a:defRPr>
            </a:pPr>
            <a:r>
              <a:t>Samma pipeline kan sedan köras regelbundet på ny data.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A0AC"/>
                </a:solidFill>
                <a:latin typeface="Aptos"/>
              </a:defRPr>
            </a:pPr>
            <a:r>
              <a:t>Marketplace Safety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92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4. Modelljämförelse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18288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D2DCE8"/>
                </a:solidFill>
                <a:latin typeface="Aptos"/>
              </a:defRPr>
            </a:pPr>
            <a: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097280"/>
          <a:ext cx="740664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Modell</a:t>
                      </a:r>
                    </a:p>
                  </a:txBody>
                  <a:tcPr marL="36576" marR="36576" marT="27432" marB="27432" anchor="ctr">
                    <a:solidFill>
                      <a:srgbClr val="18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Precision</a:t>
                      </a:r>
                    </a:p>
                  </a:txBody>
                  <a:tcPr marL="36576" marR="36576" marT="27432" marB="27432" anchor="ctr">
                    <a:solidFill>
                      <a:srgbClr val="18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Recall</a:t>
                      </a:r>
                    </a:p>
                  </a:txBody>
                  <a:tcPr marL="36576" marR="36576" marT="27432" marB="27432" anchor="ctr">
                    <a:solidFill>
                      <a:srgbClr val="18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F1</a:t>
                      </a:r>
                    </a:p>
                  </a:txBody>
                  <a:tcPr marL="36576" marR="36576" marT="27432" marB="27432" anchor="ctr">
                    <a:solidFill>
                      <a:srgbClr val="18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PR-AUC</a:t>
                      </a:r>
                    </a:p>
                  </a:txBody>
                  <a:tcPr marL="36576" marR="36576" marT="27432" marB="27432" anchor="ctr">
                    <a:solidFill>
                      <a:srgbClr val="18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32A"/>
                          </a:solidFill>
                          <a:latin typeface="Aptos"/>
                        </a:defRPr>
                      </a:pPr>
                      <a:r>
                        <a:t>Baseline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32A"/>
                          </a:solidFill>
                          <a:latin typeface="Aptos"/>
                        </a:defRPr>
                      </a:pPr>
                      <a:r>
                        <a:t>0.000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32A"/>
                          </a:solidFill>
                          <a:latin typeface="Aptos"/>
                        </a:defRPr>
                      </a:pPr>
                      <a:r>
                        <a:t>0.000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32A"/>
                          </a:solidFill>
                          <a:latin typeface="Aptos"/>
                        </a:defRPr>
                      </a:pPr>
                      <a:r>
                        <a:t>0.000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32A"/>
                          </a:solidFill>
                          <a:latin typeface="Aptos"/>
                        </a:defRPr>
                      </a:pPr>
                      <a:r>
                        <a:t>0.102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32A"/>
                          </a:solidFill>
                          <a:latin typeface="Aptos"/>
                        </a:defRPr>
                      </a:pPr>
                      <a:r>
                        <a:t>Logistic Regression</a:t>
                      </a:r>
                    </a:p>
                  </a:txBody>
                  <a:tcPr marL="36576" marR="36576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32A"/>
                          </a:solidFill>
                          <a:latin typeface="Aptos"/>
                        </a:defRPr>
                      </a:pPr>
                      <a:r>
                        <a:t>0.192</a:t>
                      </a:r>
                    </a:p>
                  </a:txBody>
                  <a:tcPr marL="36576" marR="36576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32A"/>
                          </a:solidFill>
                          <a:latin typeface="Aptos"/>
                        </a:defRPr>
                      </a:pPr>
                      <a:r>
                        <a:t>0.649</a:t>
                      </a:r>
                    </a:p>
                  </a:txBody>
                  <a:tcPr marL="36576" marR="36576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32A"/>
                          </a:solidFill>
                          <a:latin typeface="Aptos"/>
                        </a:defRPr>
                      </a:pPr>
                      <a:r>
                        <a:t>0.297</a:t>
                      </a:r>
                    </a:p>
                  </a:txBody>
                  <a:tcPr marL="36576" marR="36576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32A"/>
                          </a:solidFill>
                          <a:latin typeface="Aptos"/>
                        </a:defRPr>
                      </a:pPr>
                      <a:r>
                        <a:t>0.281</a:t>
                      </a:r>
                    </a:p>
                  </a:txBody>
                  <a:tcPr marL="36576" marR="36576"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32A"/>
                          </a:solidFill>
                          <a:latin typeface="Aptos"/>
                        </a:defRPr>
                      </a:pPr>
                      <a:r>
                        <a:t>Decision Tree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32A"/>
                          </a:solidFill>
                          <a:latin typeface="Aptos"/>
                        </a:defRPr>
                      </a:pPr>
                      <a:r>
                        <a:t>0.183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32A"/>
                          </a:solidFill>
                          <a:latin typeface="Aptos"/>
                        </a:defRPr>
                      </a:pPr>
                      <a:r>
                        <a:t>0.638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32A"/>
                          </a:solidFill>
                          <a:latin typeface="Aptos"/>
                        </a:defRPr>
                      </a:pPr>
                      <a:r>
                        <a:t>0.283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32A"/>
                          </a:solidFill>
                          <a:latin typeface="Aptos"/>
                        </a:defRPr>
                      </a:pPr>
                      <a:r>
                        <a:t>0.216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32A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 marL="36576" marR="36576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32A"/>
                          </a:solidFill>
                          <a:latin typeface="Aptos"/>
                        </a:defRPr>
                      </a:pPr>
                      <a:r>
                        <a:t>0.213</a:t>
                      </a:r>
                    </a:p>
                  </a:txBody>
                  <a:tcPr marL="36576" marR="36576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32A"/>
                          </a:solidFill>
                          <a:latin typeface="Aptos"/>
                        </a:defRPr>
                      </a:pPr>
                      <a:r>
                        <a:t>0.540</a:t>
                      </a:r>
                    </a:p>
                  </a:txBody>
                  <a:tcPr marL="36576" marR="36576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32A"/>
                          </a:solidFill>
                          <a:latin typeface="Aptos"/>
                        </a:defRPr>
                      </a:pPr>
                      <a:r>
                        <a:t>0.306</a:t>
                      </a:r>
                    </a:p>
                  </a:txBody>
                  <a:tcPr marL="36576" marR="36576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32A"/>
                          </a:solidFill>
                          <a:latin typeface="Aptos"/>
                        </a:defRPr>
                      </a:pPr>
                      <a:r>
                        <a:t>0.258</a:t>
                      </a:r>
                    </a:p>
                  </a:txBody>
                  <a:tcPr marL="36576" marR="36576"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32A"/>
                          </a:solidFill>
                          <a:latin typeface="Aptos"/>
                        </a:defRPr>
                      </a:pPr>
                      <a:r>
                        <a:t>Gradient Boosting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32A"/>
                          </a:solidFill>
                          <a:latin typeface="Aptos"/>
                        </a:defRPr>
                      </a:pPr>
                      <a:r>
                        <a:t>0.478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32A"/>
                          </a:solidFill>
                          <a:latin typeface="Aptos"/>
                        </a:defRPr>
                      </a:pPr>
                      <a:r>
                        <a:t>0.069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32A"/>
                          </a:solidFill>
                          <a:latin typeface="Aptos"/>
                        </a:defRPr>
                      </a:pPr>
                      <a:r>
                        <a:t>0.121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32A"/>
                          </a:solidFill>
                          <a:latin typeface="Aptos"/>
                        </a:defRPr>
                      </a:pPr>
                      <a:r>
                        <a:t>0.287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75320" y="1097280"/>
            <a:ext cx="3246120" cy="29718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49640" y="1325880"/>
            <a:ext cx="269748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82A44"/>
                </a:solidFill>
                <a:latin typeface="Aptos"/>
              </a:defRPr>
            </a:pPr>
            <a:r>
              <a:t>Viktig tolkning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783080"/>
            <a:ext cx="2651760" cy="169164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32A"/>
                </a:solidFill>
                <a:latin typeface="Aptos"/>
              </a:defRPr>
            </a:pPr>
            <a:r>
              <a:t>Baseline hittar inga misstänkta händelser.</a:t>
            </a:r>
          </a:p>
          <a:p>
            <a:pPr>
              <a:spcAft>
                <a:spcPts val="400"/>
              </a:spcAft>
              <a:defRPr sz="1300">
                <a:solidFill>
                  <a:srgbClr val="1E232A"/>
                </a:solidFill>
                <a:latin typeface="Aptos"/>
              </a:defRPr>
            </a:pPr>
            <a:r>
              <a:t>Gradient Boosting har hög precision men väldigt låg recall.</a:t>
            </a:r>
          </a:p>
          <a:p>
            <a:pPr>
              <a:spcAft>
                <a:spcPts val="400"/>
              </a:spcAft>
              <a:defRPr sz="1300">
                <a:solidFill>
                  <a:srgbClr val="1E232A"/>
                </a:solidFill>
                <a:latin typeface="Aptos"/>
              </a:defRPr>
            </a:pPr>
            <a:r>
              <a:t>Logistic Regression ger mycket bättre recall och är lättare att förklara.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526280"/>
            <a:ext cx="1042416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82A44"/>
                </a:solidFill>
                <a:latin typeface="Aptos"/>
              </a:defRPr>
            </a:pPr>
            <a:r>
              <a:t>Valet styrs inte bara av högsta score, utan av kravkortet.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074920"/>
            <a:ext cx="1042416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E232A"/>
                </a:solidFill>
                <a:latin typeface="Aptos"/>
              </a:defRPr>
            </a:pPr>
            <a:r>
              <a:t>För Trust &amp; Safety är det viktigare att hitta många misstänkta händelser än att maximera accuracy.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A0AC"/>
                </a:solidFill>
                <a:latin typeface="Aptos"/>
              </a:defRPr>
            </a:pPr>
            <a:r>
              <a:t>Marketplace Safety 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92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5. Vald modell och 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18288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D2DCE8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78992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4"/>
                </a:solidFill>
                <a:latin typeface="Aptos Display"/>
              </a:defRPr>
            </a:pPr>
            <a:r>
              <a:t>Final modell: Logistic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5486400" cy="182880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1E232A"/>
                </a:solidFill>
                <a:latin typeface="Aptos"/>
              </a:defRPr>
            </a:pPr>
            <a:r>
              <a:t>Rimligt hög recall för kravkortet</a:t>
            </a:r>
          </a:p>
          <a:p>
            <a:pPr>
              <a:spcAft>
                <a:spcPts val="400"/>
              </a:spcAft>
              <a:defRPr sz="1700">
                <a:solidFill>
                  <a:srgbClr val="1E232A"/>
                </a:solidFill>
                <a:latin typeface="Aptos"/>
              </a:defRPr>
            </a:pPr>
            <a:r>
              <a:t>Enklare att förklara än mer komplexa modeller</a:t>
            </a:r>
          </a:p>
          <a:p>
            <a:pPr>
              <a:spcAft>
                <a:spcPts val="400"/>
              </a:spcAft>
              <a:defRPr sz="1700">
                <a:solidFill>
                  <a:srgbClr val="1E232A"/>
                </a:solidFill>
                <a:latin typeface="Aptos"/>
              </a:defRPr>
            </a:pPr>
            <a:r>
              <a:t>Fungerar bra tillsammans med preprocessing i Pipeline</a:t>
            </a:r>
          </a:p>
          <a:p>
            <a:pPr>
              <a:spcAft>
                <a:spcPts val="400"/>
              </a:spcAft>
              <a:defRPr sz="1700">
                <a:solidFill>
                  <a:srgbClr val="1E232A"/>
                </a:solidFill>
                <a:latin typeface="Aptos"/>
              </a:defRPr>
            </a:pPr>
            <a:r>
              <a:t>Threshold kan justeras efter teamets kapacitet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234440"/>
            <a:ext cx="4297680" cy="329184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0" y="1508760"/>
            <a:ext cx="384048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82A44"/>
                </a:solidFill>
                <a:latin typeface="Aptos"/>
              </a:defRPr>
            </a:pPr>
            <a:r>
              <a:t>Tuning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1938528"/>
            <a:ext cx="3611880" cy="96012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232A"/>
                </a:solidFill>
                <a:latin typeface="Aptos"/>
              </a:defRPr>
            </a:pPr>
            <a:r>
              <a:t>C</a:t>
            </a:r>
          </a:p>
          <a:p>
            <a:pPr>
              <a:spcAft>
                <a:spcPts val="400"/>
              </a:spcAft>
              <a:defRPr sz="1600">
                <a:solidFill>
                  <a:srgbClr val="1E232A"/>
                </a:solidFill>
                <a:latin typeface="Aptos"/>
              </a:defRPr>
            </a:pPr>
            <a:r>
              <a:t>class_weight</a:t>
            </a:r>
          </a:p>
          <a:p>
            <a:pPr>
              <a:spcAft>
                <a:spcPts val="400"/>
              </a:spcAft>
              <a:defRPr sz="1600">
                <a:solidFill>
                  <a:srgbClr val="1E232A"/>
                </a:solidFill>
                <a:latin typeface="Aptos"/>
              </a:defRPr>
            </a:pPr>
            <a:r>
              <a:t>Metric: average_precision / PR-AUC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3337560"/>
            <a:ext cx="16459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0" y="3467840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A6099"/>
                </a:solidFill>
                <a:latin typeface="Aptos Display"/>
              </a:defRPr>
            </a:pPr>
            <a:r>
              <a:t>10.0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0" y="3873815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F6C7D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3337560"/>
            <a:ext cx="18288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0" y="3458008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8918E"/>
                </a:solidFill>
                <a:latin typeface="Aptos Display"/>
              </a:defRPr>
            </a:pPr>
            <a:r>
              <a:rPr dirty="0"/>
              <a:t>0.284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3639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F6C7D"/>
                </a:solidFill>
                <a:latin typeface="Aptos"/>
              </a:defRPr>
            </a:pPr>
            <a:r>
              <a:t>CV PR-AUC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63440"/>
            <a:ext cx="548640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82A44"/>
                </a:solidFill>
                <a:latin typeface="Aptos"/>
              </a:defRPr>
            </a:pPr>
            <a:r>
              <a:t>Bästa class_weight: {0: 1, 1: 3}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212080"/>
            <a:ext cx="99669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E232A"/>
                </a:solidFill>
                <a:latin typeface="Aptos"/>
              </a:defRPr>
            </a:pPr>
            <a:r>
              <a:t>Jag optimerade för PR-AUC eftersom den misstänkta klassen är ovanlig och caset handlar om prioritering.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A0AC"/>
                </a:solidFill>
                <a:latin typeface="Aptos"/>
              </a:defRPr>
            </a:pPr>
            <a:r>
              <a:t>Marketplace Safety 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92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6. Threshold/prioritering och konsekvens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18288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D2DCE8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530352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82A44"/>
                </a:solidFill>
                <a:latin typeface="Aptos"/>
              </a:defRPr>
            </a:pPr>
            <a:r>
              <a:t>Vald threshold: 0.20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5577840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E232A"/>
                </a:solidFill>
                <a:latin typeface="Aptos"/>
              </a:defRPr>
            </a:pPr>
            <a:r>
              <a:t>En lägre threshold ger högre recall, vilket passar målet att minska false negatives.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06040"/>
            <a:ext cx="1828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69660"/>
                </a:solidFill>
                <a:latin typeface="Aptos Display"/>
              </a:defRPr>
            </a:pPr>
            <a:r>
              <a:t>198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79944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F6C7D"/>
                </a:solidFill>
                <a:latin typeface="Aptos"/>
              </a:defRPr>
            </a:pPr>
            <a:r>
              <a:t>True positives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606040"/>
            <a:ext cx="1828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80360" y="2834640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DB8039"/>
                </a:solidFill>
                <a:latin typeface="Aptos Display"/>
              </a:defRPr>
            </a:pPr>
            <a:r>
              <a:t>954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3279944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F6C7D"/>
                </a:solidFill>
                <a:latin typeface="Aptos"/>
              </a:defRPr>
            </a:pPr>
            <a:r>
              <a:t>False positives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2606040"/>
            <a:ext cx="1828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37760" y="2834640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B74141"/>
                </a:solidFill>
                <a:latin typeface="Aptos Display"/>
              </a:defRPr>
            </a:pPr>
            <a:r>
              <a:t>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279944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F6C7D"/>
                </a:solidFill>
                <a:latin typeface="Aptos"/>
              </a:defRPr>
            </a:pPr>
            <a:r>
              <a:t>False negatives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2606040"/>
            <a:ext cx="1828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95160" y="2834640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A6099"/>
                </a:solidFill>
                <a:latin typeface="Aptos Display"/>
              </a:defRPr>
            </a:pPr>
            <a:r>
              <a:t>0.808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3279944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F6C7D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2606040"/>
            <a:ext cx="1828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52560" y="2834640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8918E"/>
                </a:solidFill>
                <a:latin typeface="Aptos Display"/>
              </a:defRPr>
            </a:pPr>
            <a:r>
              <a:t>0.172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3279944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F6C7D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069080"/>
            <a:ext cx="10332720" cy="12801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4297680"/>
            <a:ext cx="978408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82A44"/>
                </a:solidFill>
                <a:latin typeface="Aptos"/>
              </a:defRPr>
            </a:pPr>
            <a:r>
              <a:t>Konsekvens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645152"/>
            <a:ext cx="969264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E232A"/>
                </a:solidFill>
                <a:latin typeface="Aptos"/>
              </a:defRPr>
            </a:pPr>
            <a:r>
              <a:t>Modellen hittar cirka 80,8% av de misstänkta händelserna. Det ger fler false positives, men eftersom modellen bara prioriterar manuell granskning är trade-offen rimlig för Trust &amp; Safety.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A0AC"/>
                </a:solidFill>
                <a:latin typeface="Aptos"/>
              </a:defRPr>
            </a:pPr>
            <a:r>
              <a:t>Marketplace Safety 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92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7. Prediktion på new_data.csv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18288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D2DCE8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594360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182A44"/>
                </a:solidFill>
                <a:latin typeface="Aptos"/>
              </a:defRPr>
            </a:pPr>
            <a:r>
              <a:t>Ny data användes endast för prediktion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5852160" cy="640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E232A"/>
                </a:solidFill>
                <a:latin typeface="Aptos"/>
              </a:defRPr>
            </a:pPr>
            <a:r>
              <a:t>new_data.csv saknar target, så den användes inte för träning, tuning eller feature engineering.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51760"/>
            <a:ext cx="20574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1783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A6099"/>
                </a:solidFill>
                <a:latin typeface="Aptos Display"/>
              </a:defRPr>
            </a:pPr>
            <a:r>
              <a:t>2000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25663"/>
            <a:ext cx="1783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F6C7D"/>
                </a:solidFill>
                <a:latin typeface="Aptos"/>
              </a:defRPr>
            </a:pPr>
            <a:r>
              <a:rPr dirty="0" err="1"/>
              <a:t>nya</a:t>
            </a:r>
            <a:r>
              <a:rPr dirty="0"/>
              <a:t> </a:t>
            </a:r>
            <a:r>
              <a:rPr dirty="0" err="1"/>
              <a:t>händelser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2971800" y="2651760"/>
            <a:ext cx="20574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08960" y="2880360"/>
            <a:ext cx="1783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DB8039"/>
                </a:solidFill>
                <a:latin typeface="Aptos Display"/>
              </a:defRPr>
            </a:pPr>
            <a:r>
              <a:t>1104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325663"/>
            <a:ext cx="1783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F6C7D"/>
                </a:solidFill>
                <a:latin typeface="Aptos"/>
              </a:defRPr>
            </a:pPr>
            <a:r>
              <a:t>flaggade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2651760"/>
            <a:ext cx="20574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94960" y="2880360"/>
            <a:ext cx="1783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8918E"/>
                </a:solidFill>
                <a:latin typeface="Aptos Display"/>
              </a:defRPr>
            </a:pPr>
            <a:r>
              <a:t>55.2%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3325663"/>
            <a:ext cx="1783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F6C7D"/>
                </a:solidFill>
                <a:latin typeface="Aptos"/>
              </a:defRPr>
            </a:pPr>
            <a:r>
              <a:t>andel flaggade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2651760"/>
            <a:ext cx="20574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80960" y="2880360"/>
            <a:ext cx="1783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69660"/>
                </a:solidFill>
                <a:latin typeface="Aptos Display"/>
              </a:defRPr>
            </a:pPr>
            <a:r>
              <a:t>0.921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325663"/>
            <a:ext cx="1783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F6C7D"/>
                </a:solidFill>
                <a:latin typeface="Aptos"/>
              </a:defRPr>
            </a:pPr>
            <a:r>
              <a:t>högsta risk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249008"/>
            <a:ext cx="10515600" cy="132588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4370832"/>
            <a:ext cx="996696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82A44"/>
                </a:solidFill>
                <a:latin typeface="Aptos"/>
              </a:defRPr>
            </a:pPr>
            <a:r>
              <a:t>Output till Trust &amp; Safety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727448"/>
            <a:ext cx="9692640" cy="64008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232A"/>
                </a:solidFill>
                <a:latin typeface="Aptos"/>
              </a:defRPr>
            </a:pPr>
            <a:r>
              <a:t>reports/new_data_predictions.csv</a:t>
            </a:r>
          </a:p>
          <a:p>
            <a:pPr>
              <a:spcAft>
                <a:spcPts val="400"/>
              </a:spcAft>
              <a:defRPr sz="1400">
                <a:solidFill>
                  <a:srgbClr val="1E232A"/>
                </a:solidFill>
                <a:latin typeface="Aptos"/>
              </a:defRPr>
            </a:pPr>
            <a:r>
              <a:t>reports/new_data_top_50_priority_list.csv</a:t>
            </a:r>
          </a:p>
          <a:p>
            <a:pPr>
              <a:spcAft>
                <a:spcPts val="400"/>
              </a:spcAft>
              <a:defRPr sz="1400">
                <a:solidFill>
                  <a:srgbClr val="1E232A"/>
                </a:solidFill>
                <a:latin typeface="Aptos"/>
              </a:defRPr>
            </a:pPr>
            <a:r>
              <a:t>Teamet kan börja med de högst rankade händelserna.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A0AC"/>
                </a:solidFill>
                <a:latin typeface="Aptos"/>
              </a:defRPr>
            </a:pPr>
            <a:r>
              <a:t>Marketplace Safety 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92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8. Risker, begränsningar och nästa steg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18288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D2DCE8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5212080" cy="44805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66344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82A44"/>
                </a:solidFill>
                <a:latin typeface="Aptos"/>
              </a:defRPr>
            </a:pPr>
            <a:r>
              <a:t>Begränsningar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4572000" cy="155448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232A"/>
                </a:solidFill>
                <a:latin typeface="Aptos"/>
              </a:defRPr>
            </a:pPr>
            <a:r>
              <a:t>Modellen är tränad på historisk data.</a:t>
            </a:r>
          </a:p>
          <a:p>
            <a:pPr>
              <a:spcAft>
                <a:spcPts val="400"/>
              </a:spcAft>
              <a:defRPr sz="1600">
                <a:solidFill>
                  <a:srgbClr val="1E232A"/>
                </a:solidFill>
                <a:latin typeface="Aptos"/>
              </a:defRPr>
            </a:pPr>
            <a:r>
              <a:t>Beteenden kan förändras över tid.</a:t>
            </a:r>
          </a:p>
          <a:p>
            <a:pPr>
              <a:spcAft>
                <a:spcPts val="400"/>
              </a:spcAft>
              <a:defRPr sz="1600">
                <a:solidFill>
                  <a:srgbClr val="1E232A"/>
                </a:solidFill>
                <a:latin typeface="Aptos"/>
              </a:defRPr>
            </a:pPr>
            <a:r>
              <a:t>new_data.csv saknar facit.</a:t>
            </a:r>
          </a:p>
          <a:p>
            <a:pPr>
              <a:spcAft>
                <a:spcPts val="400"/>
              </a:spcAft>
              <a:defRPr sz="1600">
                <a:solidFill>
                  <a:srgbClr val="1E232A"/>
                </a:solidFill>
                <a:latin typeface="Aptos"/>
              </a:defRPr>
            </a:pPr>
            <a:r>
              <a:t>Många false positives kan skapa extra arbete.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457200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B74141"/>
                </a:solidFill>
                <a:latin typeface="Aptos"/>
              </a:defRPr>
            </a:pPr>
            <a:r>
              <a:t>Största risken för kravkortet: false negatives.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143000"/>
            <a:ext cx="5212080" cy="44805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417320"/>
            <a:ext cx="466344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82A44"/>
                </a:solidFill>
                <a:latin typeface="Aptos"/>
              </a:defRPr>
            </a:pPr>
            <a:r>
              <a:t>Nästa steg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874519"/>
            <a:ext cx="4572000" cy="192024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E232A"/>
                </a:solidFill>
                <a:latin typeface="Aptos"/>
              </a:defRPr>
            </a:pPr>
            <a:r>
              <a:t>Följ upp manuell granskning och samla labels.</a:t>
            </a:r>
          </a:p>
          <a:p>
            <a:pPr>
              <a:spcAft>
                <a:spcPts val="400"/>
              </a:spcAft>
              <a:defRPr sz="1500">
                <a:solidFill>
                  <a:srgbClr val="1E232A"/>
                </a:solidFill>
                <a:latin typeface="Aptos"/>
              </a:defRPr>
            </a:pPr>
            <a:r>
              <a:t>Mät precision och recall löpande.</a:t>
            </a:r>
          </a:p>
          <a:p>
            <a:pPr>
              <a:spcAft>
                <a:spcPts val="400"/>
              </a:spcAft>
              <a:defRPr sz="1500">
                <a:solidFill>
                  <a:srgbClr val="1E232A"/>
                </a:solidFill>
                <a:latin typeface="Aptos"/>
              </a:defRPr>
            </a:pPr>
            <a:r>
              <a:t>Bevaka data drift.</a:t>
            </a:r>
          </a:p>
          <a:p>
            <a:pPr>
              <a:spcAft>
                <a:spcPts val="400"/>
              </a:spcAft>
              <a:defRPr sz="1500">
                <a:solidFill>
                  <a:srgbClr val="1E232A"/>
                </a:solidFill>
                <a:latin typeface="Aptos"/>
              </a:defRPr>
            </a:pPr>
            <a:r>
              <a:t>Justera threshold efter teamets kapacitet.</a:t>
            </a:r>
          </a:p>
          <a:p>
            <a:pPr>
              <a:spcAft>
                <a:spcPts val="400"/>
              </a:spcAft>
              <a:defRPr sz="1500">
                <a:solidFill>
                  <a:srgbClr val="1E232A"/>
                </a:solidFill>
                <a:latin typeface="Aptos"/>
              </a:defRPr>
            </a:pPr>
            <a:r>
              <a:t>Träna om modellen regelbundet.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4617720"/>
            <a:ext cx="4480560" cy="594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82A44"/>
                </a:solidFill>
                <a:latin typeface="Aptos"/>
              </a:defRPr>
            </a:pPr>
            <a:r>
              <a:t>Rekommendation: använd modellen som prioriteringslista, inte som automatiskt beslutssystem.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A0AC"/>
                </a:solidFill>
                <a:latin typeface="Aptos"/>
              </a:defRPr>
            </a:pPr>
            <a:r>
              <a:t>Marketplace Safety 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699</Words>
  <Application>Microsoft Office PowerPoint</Application>
  <PresentationFormat>Widescreen</PresentationFormat>
  <Paragraphs>163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Soroush Gholamreza</cp:lastModifiedBy>
  <cp:revision>2</cp:revision>
  <dcterms:created xsi:type="dcterms:W3CDTF">2013-01-27T09:14:16Z</dcterms:created>
  <dcterms:modified xsi:type="dcterms:W3CDTF">2026-06-28T09:38:27Z</dcterms:modified>
  <cp:category/>
</cp:coreProperties>
</file>